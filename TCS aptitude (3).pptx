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98" r:id="rId4"/>
    <p:sldId id="299" r:id="rId5"/>
    <p:sldId id="258" r:id="rId6"/>
    <p:sldId id="259" r:id="rId7"/>
    <p:sldId id="260" r:id="rId8"/>
    <p:sldId id="262" r:id="rId9"/>
    <p:sldId id="266" r:id="rId10"/>
    <p:sldId id="263" r:id="rId11"/>
    <p:sldId id="267" r:id="rId12"/>
    <p:sldId id="264" r:id="rId13"/>
    <p:sldId id="265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60C6E-CDAF-DF11-1024-C5AB6CD5C4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02DB72-2EF9-CD33-CAB8-7CF92498F4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A4C5A-7B14-5706-F51B-7B01F2E2D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83130-15D5-4BE5-A56A-A3596190040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7F7D5-5B15-D791-AF14-E926EDA54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1649-FA84-ECB0-5A3D-618489E59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8520-F635-4B9B-8C64-05AF0A766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07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D2FEC-F336-61D9-2CCC-01EF963BA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249FC-F3DF-0DF7-3DA1-C2467E100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08B8D-5526-2C4D-B6BF-468396013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83130-15D5-4BE5-A56A-A3596190040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4F26C-63F4-814E-1EB1-6C122E87A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9F291-0668-067D-77AE-1082CEC45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8520-F635-4B9B-8C64-05AF0A766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349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4F4E4-8C2C-D101-7F21-8E89C186E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00AB9-BE06-5D3C-3873-93599BBD8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D0A06-EC46-5355-086C-59472F2B2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83130-15D5-4BE5-A56A-A3596190040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71B29-9988-5B24-25BD-F5CBCC2D8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B34CE-A6F8-C60C-70D0-40107059E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8520-F635-4B9B-8C64-05AF0A766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044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FA6F3-FBA7-316F-17BD-8E6200C6F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9EC0C-CDCB-9657-EA35-98A15267B0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4E6C3A-CC8A-317B-0AC2-3FEE851004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3B82B-3B40-36E0-6F2C-9EE0B877F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83130-15D5-4BE5-A56A-A3596190040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279866-AEB0-52F3-0F70-B9987D587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1E57DB-C416-A33F-F071-7FF84612D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8520-F635-4B9B-8C64-05AF0A766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847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97A67-A164-9D3F-D73B-302D873A1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384E0C-F1D5-D691-9CDF-53BA674F7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5F3B23-956B-CFFE-B878-9799D4F91C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C304E1-3079-34AF-CE8B-E732F08504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D6890C-8F94-BB6B-68F1-674203FB04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7BF7EC-5538-0773-6496-247F0005F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83130-15D5-4BE5-A56A-A3596190040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71950B-E333-77BD-4D15-44B176796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31A332-22A7-3AE4-AC34-38AB65996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8520-F635-4B9B-8C64-05AF0A766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799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0FDCA-DDB3-9F7B-4968-7B7DC9A8E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23790B-ADC8-EDE6-50CB-09403EA91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83130-15D5-4BE5-A56A-A3596190040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C50679-7FD5-11CE-955C-10BE48E04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CB99D-4182-1991-E29E-EFD14AC5A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8520-F635-4B9B-8C64-05AF0A766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035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C4E112-9000-F7E1-8E6D-0D9F2CD74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83130-15D5-4BE5-A56A-A3596190040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384F82-E056-F0F5-5F2D-8A28826FE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855D7D-707A-979B-D6E0-B1B1F03E9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8520-F635-4B9B-8C64-05AF0A766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840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ADE46-BDB2-4B1C-1ECA-A61FD8C21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B9EE4-DEA0-8DBB-5767-AF61429EF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90B9C4-7F06-E58B-2F59-0EDEBB7E71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C66538-ABC6-6BDE-2BF5-49C5CF099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83130-15D5-4BE5-A56A-A3596190040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D1EE32-3D6C-56F9-571C-D72213CF3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D6D6B-86D9-8B1B-C1A3-408694A2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8520-F635-4B9B-8C64-05AF0A766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147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E4F16-9D6B-BD9D-9569-5569EC0D5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2C1FBD-EE50-2C21-41A8-6EBF7C16A5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8639AF-3596-48FC-79C7-51FA86B83D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72EC6D-7ECB-1630-680A-5C8E50DF8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83130-15D5-4BE5-A56A-A3596190040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6828A1-15CA-BE57-CB53-588516485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B98EFD-20B1-1453-BFED-EFFAF0383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8520-F635-4B9B-8C64-05AF0A766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8827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98B78-0A2B-5C6D-E4F5-28D67ED5C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EE130A-B614-3914-F5C8-785C2D13D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B9015-6DF0-D34A-9688-BA9F33987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83130-15D5-4BE5-A56A-A3596190040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5F826-9A76-50A0-C125-4E64F797D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9768E-D134-78F4-B553-21D97F1BD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8520-F635-4B9B-8C64-05AF0A766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706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C71F32-8CA6-3B89-BDEE-39F70AFF75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2349C6-D08E-51A6-6EB1-BEEEB0616A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41413-BB87-2358-A91A-82C5FB0A6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83130-15D5-4BE5-A56A-A3596190040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23F70-C549-56C0-5535-D6DE6714D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39A58-416C-7A38-3ED0-A135B84A0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8520-F635-4B9B-8C64-05AF0A766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0543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0890EB-FE04-00D5-C0C4-A0ECEEFB2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D5603A-4033-B07F-AFDE-B2E7848A1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FAB49-6072-D275-53F8-17B1A9EF69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583130-15D5-4BE5-A56A-A3596190040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F7359-472E-5339-4379-B6375BBF16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57BBC-595D-8AD8-DA1C-77E6044776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7C8520-F635-4B9B-8C64-05AF0A766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281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F3196-5F03-CC75-3E77-6E64505453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TCS NQT </a:t>
            </a:r>
            <a:r>
              <a:rPr lang="en-IN" dirty="0"/>
              <a:t>Placement Questions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B29E1F-7765-B4AA-2684-620C2010AB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319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9E8B0-878A-D3D4-C21A-89696BFE7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TCS NQT Overall Pattern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0D72CD-ABEB-BB27-EAA2-37B363BE1D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7685" y="1175657"/>
            <a:ext cx="10918371" cy="531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310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Aptitude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Mixtures</a:t>
            </a:r>
          </a:p>
          <a:p>
            <a:r>
              <a:rPr dirty="0"/>
              <a:t>Profit &amp; Loss</a:t>
            </a:r>
          </a:p>
          <a:p>
            <a:r>
              <a:rPr dirty="0"/>
              <a:t>Time &amp; Work</a:t>
            </a:r>
          </a:p>
          <a:p>
            <a:r>
              <a:rPr dirty="0"/>
              <a:t>Speed, Time &amp; Distance</a:t>
            </a:r>
          </a:p>
          <a:p>
            <a:r>
              <a:rPr dirty="0"/>
              <a:t>Simple Interest</a:t>
            </a:r>
          </a:p>
          <a:p>
            <a:r>
              <a:rPr dirty="0"/>
              <a:t>Ratio &amp; Average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Reasoning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Letter Patterns</a:t>
            </a:r>
          </a:p>
          <a:p>
            <a:r>
              <a:rPr dirty="0"/>
              <a:t>Series</a:t>
            </a:r>
          </a:p>
          <a:p>
            <a:r>
              <a:rPr dirty="0"/>
              <a:t>Odd One Out</a:t>
            </a:r>
          </a:p>
          <a:p>
            <a:r>
              <a:rPr dirty="0"/>
              <a:t>Cube Problems</a:t>
            </a:r>
          </a:p>
          <a:p>
            <a:r>
              <a:rPr dirty="0"/>
              <a:t>Coding-Decoding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92AD1-F3D4-8148-8607-334091615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2400" dirty="0"/>
              <a:t>APTITUDE</a:t>
            </a:r>
            <a:br>
              <a:rPr lang="en-IN" sz="2400" dirty="0"/>
            </a:br>
            <a:r>
              <a:rPr lang="en-IN" sz="2400" dirty="0"/>
              <a:t>Q1) 6 litres of pure milk is added to 10 litres of a mixture of water and milk, with 40% milk. What is the percentage of milk in the new solution? </a:t>
            </a:r>
            <a:br>
              <a:rPr lang="en-IN" sz="2400" dirty="0"/>
            </a:br>
            <a:r>
              <a:rPr lang="en-IN" sz="2400" dirty="0"/>
              <a:t>1. 50% 	2. 62.5% 	3. 75% 	4. 87.5%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DB9F5-52D4-1157-AB4B-A4F6CCA7C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Answer: Option 2 </a:t>
            </a:r>
          </a:p>
          <a:p>
            <a:endParaRPr lang="en-IN" dirty="0"/>
          </a:p>
          <a:p>
            <a:r>
              <a:rPr lang="en-IN" dirty="0"/>
              <a:t>Explanation: </a:t>
            </a:r>
          </a:p>
          <a:p>
            <a:r>
              <a:rPr lang="en-IN" dirty="0"/>
              <a:t>Initial milk = 10 × 40% = 4 L. </a:t>
            </a:r>
          </a:p>
          <a:p>
            <a:r>
              <a:rPr lang="en-IN" dirty="0"/>
              <a:t>After adding 6 L pure milk, milk = 4 + 6 = 10 L. </a:t>
            </a:r>
          </a:p>
          <a:p>
            <a:r>
              <a:rPr lang="en-IN" dirty="0"/>
              <a:t>Total volume = 10 + 6 = 16 L.</a:t>
            </a:r>
          </a:p>
          <a:p>
            <a:r>
              <a:rPr lang="en-IN" dirty="0"/>
              <a:t> Percentage = (10/16)×100 = 62.5%.</a:t>
            </a:r>
          </a:p>
        </p:txBody>
      </p:sp>
    </p:spTree>
    <p:extLst>
      <p:ext uri="{BB962C8B-B14F-4D97-AF65-F5344CB8AC3E}">
        <p14:creationId xmlns:p14="http://schemas.microsoft.com/office/powerpoint/2010/main" val="2632659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6C479-8103-B440-7686-2F3B910E0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Q2) There are 20 litres of mixture of water and milk with 30% milk. How many litres of pure milk must be added to make the ratio </a:t>
            </a:r>
            <a:r>
              <a:rPr lang="en-IN" sz="2400" dirty="0" err="1"/>
              <a:t>water:milk</a:t>
            </a:r>
            <a:r>
              <a:rPr lang="en-IN" sz="2400" dirty="0"/>
              <a:t> = 1:1? </a:t>
            </a:r>
            <a:br>
              <a:rPr lang="en-IN" sz="2400" dirty="0"/>
            </a:br>
            <a:r>
              <a:rPr lang="en-IN" sz="2400" dirty="0"/>
              <a:t>1.14L	 2. 6L	3. 8L	 4.10 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73F6D-3444-F8A7-9D25-0F5F96FE2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Answer: Option 3 </a:t>
            </a:r>
          </a:p>
          <a:p>
            <a:r>
              <a:rPr lang="en-IN" dirty="0"/>
              <a:t>Explanation: </a:t>
            </a:r>
          </a:p>
          <a:p>
            <a:r>
              <a:rPr lang="en-IN" dirty="0"/>
              <a:t>Initial milk = 20×30% = 6 L; (20-6=14 water)</a:t>
            </a:r>
          </a:p>
          <a:p>
            <a:r>
              <a:rPr lang="en-IN" dirty="0"/>
              <a:t>water = 14 L. </a:t>
            </a:r>
          </a:p>
          <a:p>
            <a:r>
              <a:rPr lang="en-IN" dirty="0"/>
              <a:t>Need milk such that 14:(6 + x) = 1:1 → </a:t>
            </a:r>
          </a:p>
          <a:p>
            <a:r>
              <a:rPr lang="en-IN" dirty="0"/>
              <a:t>14 = 6 + x → x = 8 L.</a:t>
            </a:r>
          </a:p>
        </p:txBody>
      </p:sp>
    </p:spTree>
    <p:extLst>
      <p:ext uri="{BB962C8B-B14F-4D97-AF65-F5344CB8AC3E}">
        <p14:creationId xmlns:p14="http://schemas.microsoft.com/office/powerpoint/2010/main" val="3080816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A46BB-E24F-CBFB-DCA4-99F7F9CFE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2400" dirty="0"/>
              <a:t>Q3) In a mixture there is 26% water. After replacing 7 litres of the mixture by 7 litres pure milk, the percentage of milk becomes 76%. What is the total quantity of the mixture? </a:t>
            </a:r>
            <a:br>
              <a:rPr lang="en-IN" sz="2400" dirty="0"/>
            </a:br>
            <a:r>
              <a:rPr lang="en-IN" sz="2400" dirty="0"/>
              <a:t>1. 65 L 	2. 91 L	3. 38 L 	4. None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D9D47-E8CE-06AE-D0B3-9C1B7C89E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Answer: Option 2</a:t>
            </a:r>
          </a:p>
          <a:p>
            <a:r>
              <a:rPr lang="en-IN" dirty="0"/>
              <a:t> Explanation: After removing 7L of mixture</a:t>
            </a:r>
          </a:p>
          <a:p>
            <a:r>
              <a:rPr lang="en-IN" dirty="0"/>
              <a:t>Replaced with 7l of pure milk </a:t>
            </a:r>
          </a:p>
          <a:p>
            <a:r>
              <a:rPr lang="en-IN" dirty="0"/>
              <a:t>Final water=100%-76%=24%</a:t>
            </a:r>
          </a:p>
          <a:p>
            <a:r>
              <a:rPr lang="en-IN" dirty="0" err="1"/>
              <a:t>Intitial</a:t>
            </a:r>
            <a:r>
              <a:rPr lang="en-IN" dirty="0"/>
              <a:t> water=0.26x</a:t>
            </a:r>
          </a:p>
          <a:p>
            <a:r>
              <a:rPr lang="en-IN" dirty="0"/>
              <a:t>Water removed with 7l of mixture:0.26*7</a:t>
            </a:r>
          </a:p>
          <a:p>
            <a:r>
              <a:rPr lang="en-IN" dirty="0"/>
              <a:t>Final volume of water in the mixture:0.24x</a:t>
            </a:r>
          </a:p>
          <a:p>
            <a:r>
              <a:rPr lang="en-IN" dirty="0"/>
              <a:t>0.26x-(0.26*7)=0.24x</a:t>
            </a:r>
          </a:p>
          <a:p>
            <a:r>
              <a:rPr lang="en-IN" dirty="0"/>
              <a:t>0.26x-0.24x=0.26*7</a:t>
            </a:r>
          </a:p>
          <a:p>
            <a:r>
              <a:rPr lang="en-IN" dirty="0"/>
              <a:t>0.002x=1.82</a:t>
            </a:r>
          </a:p>
          <a:p>
            <a:r>
              <a:rPr lang="en-IN" dirty="0"/>
              <a:t>X=1.82/0.02</a:t>
            </a:r>
          </a:p>
          <a:p>
            <a:r>
              <a:rPr lang="en-IN" dirty="0"/>
              <a:t>X=9l</a:t>
            </a:r>
          </a:p>
        </p:txBody>
      </p:sp>
    </p:spTree>
    <p:extLst>
      <p:ext uri="{BB962C8B-B14F-4D97-AF65-F5344CB8AC3E}">
        <p14:creationId xmlns:p14="http://schemas.microsoft.com/office/powerpoint/2010/main" val="1446583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134CA-D8F2-AE3A-915C-534C69738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Q5) The cost price of a chair is ₹240. The shopkeeper gives 10% discount on the marked price and still makes a profit of ₹30. What is the marked price? </a:t>
            </a:r>
            <a:br>
              <a:rPr lang="en-IN" sz="2400" dirty="0"/>
            </a:br>
            <a:r>
              <a:rPr lang="en-IN" sz="2400" dirty="0"/>
              <a:t>1. ₹360 	2. ₹330 	3. ₹390 4. ₹300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AE761-1700-FD0A-D769-3C104A4F8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Answer: Option 4 </a:t>
            </a:r>
          </a:p>
          <a:p>
            <a:r>
              <a:rPr lang="en-IN" dirty="0"/>
              <a:t>Explanation: </a:t>
            </a:r>
          </a:p>
          <a:p>
            <a:r>
              <a:rPr lang="en-IN" dirty="0"/>
              <a:t>CP = 240, profit 30 → SP = 270. </a:t>
            </a:r>
          </a:p>
          <a:p>
            <a:r>
              <a:rPr lang="en-IN" dirty="0"/>
              <a:t>SP = 90% of MP → MP = 270/0.9 = ₹300.</a:t>
            </a:r>
          </a:p>
        </p:txBody>
      </p:sp>
    </p:spTree>
    <p:extLst>
      <p:ext uri="{BB962C8B-B14F-4D97-AF65-F5344CB8AC3E}">
        <p14:creationId xmlns:p14="http://schemas.microsoft.com/office/powerpoint/2010/main" val="4012051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79D75-E1A6-36D4-28B5-5FAFEBB52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Q6) Two articles are sold at the same price. One is sold at 75% profit and the other at 30% loss. What is the overall result? </a:t>
            </a:r>
            <a:br>
              <a:rPr lang="en-IN" sz="2400" dirty="0"/>
            </a:br>
            <a:r>
              <a:rPr lang="en-IN" sz="2400" dirty="0"/>
              <a:t>1. 22.5% profit 	2. 57.5% profit 	3. 13 2/7 % loss	 4. None of these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30FBC1-A2FC-E064-9731-01380085E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0343" y="1690688"/>
            <a:ext cx="4887232" cy="4498975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Answer: Option 4</a:t>
            </a:r>
          </a:p>
          <a:p>
            <a:r>
              <a:rPr lang="en-IN" dirty="0"/>
              <a:t> Explanation: </a:t>
            </a:r>
          </a:p>
          <a:p>
            <a:r>
              <a:rPr lang="en-IN" dirty="0"/>
              <a:t>1</a:t>
            </a:r>
            <a:r>
              <a:rPr lang="en-IN" baseline="30000" dirty="0"/>
              <a:t>st</a:t>
            </a:r>
            <a:r>
              <a:rPr lang="en-IN" dirty="0"/>
              <a:t> article</a:t>
            </a:r>
          </a:p>
          <a:p>
            <a:r>
              <a:rPr lang="en-IN" dirty="0"/>
              <a:t>SP=CP1(1+75/100)</a:t>
            </a:r>
          </a:p>
          <a:p>
            <a:r>
              <a:rPr lang="en-IN" dirty="0"/>
              <a:t>175=CP1*1.75</a:t>
            </a:r>
          </a:p>
          <a:p>
            <a:r>
              <a:rPr lang="en-IN" dirty="0"/>
              <a:t>CP1=175/1.75=100 units</a:t>
            </a:r>
          </a:p>
          <a:p>
            <a:r>
              <a:rPr lang="en-IN" dirty="0"/>
              <a:t>2</a:t>
            </a:r>
            <a:r>
              <a:rPr lang="en-IN" baseline="30000" dirty="0"/>
              <a:t>nd</a:t>
            </a:r>
            <a:r>
              <a:rPr lang="en-IN" dirty="0"/>
              <a:t> article</a:t>
            </a:r>
          </a:p>
          <a:p>
            <a:r>
              <a:rPr lang="en-IN" dirty="0"/>
              <a:t>SP=CP2(1-30/100)</a:t>
            </a:r>
          </a:p>
          <a:p>
            <a:r>
              <a:rPr lang="en-IN" dirty="0"/>
              <a:t>175=CP2*.70</a:t>
            </a:r>
          </a:p>
          <a:p>
            <a:r>
              <a:rPr lang="en-IN" dirty="0"/>
              <a:t>CP2=175/0.70=250 units</a:t>
            </a:r>
          </a:p>
          <a:p>
            <a:r>
              <a:rPr lang="en-IN" dirty="0"/>
              <a:t>Total cost=CP1+CP2=100+200=350 units</a:t>
            </a:r>
          </a:p>
          <a:p>
            <a:r>
              <a:rPr lang="en-IN" dirty="0"/>
              <a:t>Total selling price=175+175=350 units</a:t>
            </a:r>
          </a:p>
          <a:p>
            <a:r>
              <a:rPr lang="en-IN" dirty="0"/>
              <a:t>No profit or loss</a:t>
            </a: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0EADB9-A011-4208-78E1-4D29828C9C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4426" y="1690688"/>
            <a:ext cx="5160961" cy="4498975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If both sold at same SP S: CP1 = S/1.75, </a:t>
            </a:r>
          </a:p>
          <a:p>
            <a:r>
              <a:rPr lang="en-IN" dirty="0"/>
              <a:t>CP2 = S/0.7. </a:t>
            </a:r>
          </a:p>
          <a:p>
            <a:r>
              <a:rPr lang="en-IN" dirty="0"/>
              <a:t>Total CP = S(1/1.75 + 1/0.7) </a:t>
            </a:r>
          </a:p>
          <a:p>
            <a:r>
              <a:rPr lang="en-IN" dirty="0"/>
              <a:t>= S(0.5714 + 1.4286) = 2S. </a:t>
            </a:r>
          </a:p>
          <a:p>
            <a:r>
              <a:rPr lang="en-IN" dirty="0"/>
              <a:t>Total SP = 2S → no overall profit or loss.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702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CEB59-627A-E895-9B7E-2F46928BD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2400" dirty="0"/>
              <a:t>Q7) A trader sells two articles, one at 10% loss and another at 15% profit but overall there is no gain or loss. If total sale price of both articles is ₹30,000, find the difference between their cost prices. </a:t>
            </a:r>
            <a:br>
              <a:rPr lang="en-IN" sz="2400" dirty="0"/>
            </a:br>
            <a:r>
              <a:rPr lang="en-IN" sz="2400" dirty="0"/>
              <a:t>1. ₹5,000	 2. ₹6,000 	3. ₹7,500 	4. None of these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D52FB-A93C-73CE-FF6E-90C481F9C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Answer: Option 2 </a:t>
            </a:r>
          </a:p>
          <a:p>
            <a:r>
              <a:rPr lang="en-IN" dirty="0"/>
              <a:t>Explanation:</a:t>
            </a:r>
          </a:p>
          <a:p>
            <a:r>
              <a:rPr lang="en-IN" dirty="0"/>
              <a:t>0.10*CP1=0.15*CP2</a:t>
            </a:r>
          </a:p>
          <a:p>
            <a:r>
              <a:rPr lang="en-IN" dirty="0"/>
              <a:t>CP1/CP2=0.15/0.10=3/2</a:t>
            </a:r>
          </a:p>
          <a:p>
            <a:r>
              <a:rPr lang="en-IN" dirty="0"/>
              <a:t>CP1=3x, CP2=2x</a:t>
            </a:r>
          </a:p>
          <a:p>
            <a:r>
              <a:rPr lang="en-IN" dirty="0"/>
              <a:t>3x+2x=30000</a:t>
            </a:r>
          </a:p>
          <a:p>
            <a:r>
              <a:rPr lang="en-IN" dirty="0"/>
              <a:t>5x=30000</a:t>
            </a:r>
          </a:p>
          <a:p>
            <a:r>
              <a:rPr lang="en-IN" dirty="0"/>
              <a:t>X=6000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3148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89AB5-FBDC-71BA-551F-ACFEBCA92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Q8) A vendor buys oranges at ₹2 for 3 oranges and sells them at ₹1 each. To make a profit of ₹10, how many oranges must he sell?</a:t>
            </a:r>
            <a:br>
              <a:rPr lang="en-IN" sz="2400" dirty="0"/>
            </a:br>
            <a:r>
              <a:rPr lang="en-IN" sz="2400" dirty="0"/>
              <a:t> 1. 10 oranges 2. 20 oranges 3. 30 oranges 4. 40 oranges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7C939-4155-2DBF-C1B5-634DF9E8F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Answer: Option 3</a:t>
            </a:r>
          </a:p>
          <a:p>
            <a:r>
              <a:rPr lang="en-IN" dirty="0"/>
              <a:t>CP of 3 oranges=2</a:t>
            </a:r>
          </a:p>
          <a:p>
            <a:r>
              <a:rPr lang="en-IN" dirty="0"/>
              <a:t>SP of 3 oranges=3*1=3</a:t>
            </a:r>
          </a:p>
          <a:p>
            <a:r>
              <a:rPr lang="en-IN" dirty="0"/>
              <a:t>Profit on 3 oranges=</a:t>
            </a:r>
            <a:r>
              <a:rPr lang="en-IN" dirty="0" err="1"/>
              <a:t>sp</a:t>
            </a:r>
            <a:r>
              <a:rPr lang="en-IN" dirty="0"/>
              <a:t>-cp=3-2=1</a:t>
            </a:r>
          </a:p>
          <a:p>
            <a:r>
              <a:rPr lang="en-IN" dirty="0"/>
              <a:t>Required oranges-3*10=30 oranges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7661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2E9E6-0AD4-3842-2512-BF0062AB1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Q9) A goes 10 km at 6 km/h and the remaining 20 km at 15 km/h. What is A’s average speed for the whole journey? </a:t>
            </a:r>
            <a:br>
              <a:rPr lang="en-IN" sz="2400" dirty="0"/>
            </a:br>
            <a:r>
              <a:rPr lang="en-IN" sz="2400" dirty="0"/>
              <a:t>1. 10 km/h 	2. 12 km/h 	3. 13 km/h 	4. 14.5 km/h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8B1B5-1B0E-92C3-33BB-92D194B8A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Answer: Option 1</a:t>
            </a:r>
          </a:p>
          <a:p>
            <a:r>
              <a:rPr lang="en-IN" dirty="0"/>
              <a:t>T1=D/S</a:t>
            </a:r>
          </a:p>
          <a:p>
            <a:r>
              <a:rPr lang="en-IN" dirty="0"/>
              <a:t>10/6 =5/3 h</a:t>
            </a:r>
          </a:p>
          <a:p>
            <a:r>
              <a:rPr lang="en-IN" dirty="0"/>
              <a:t>T2=D/S</a:t>
            </a:r>
          </a:p>
          <a:p>
            <a:r>
              <a:rPr lang="en-IN" dirty="0"/>
              <a:t>20/15=4/3 h</a:t>
            </a:r>
          </a:p>
          <a:p>
            <a:r>
              <a:rPr lang="en-IN" dirty="0"/>
              <a:t>5/3+4/3=9/3=3 h</a:t>
            </a:r>
          </a:p>
          <a:p>
            <a:r>
              <a:rPr lang="en-IN" dirty="0"/>
              <a:t>Total distance=10+20=30km</a:t>
            </a:r>
          </a:p>
          <a:p>
            <a:r>
              <a:rPr lang="en-IN" dirty="0" err="1"/>
              <a:t>Avg</a:t>
            </a:r>
            <a:r>
              <a:rPr lang="en-IN" dirty="0"/>
              <a:t> speed=TD/TT</a:t>
            </a:r>
          </a:p>
          <a:p>
            <a:pPr marL="0" indent="0">
              <a:buNone/>
            </a:pPr>
            <a:r>
              <a:rPr lang="en-IN" dirty="0"/>
              <a:t>=30/3=10km/h</a:t>
            </a:r>
          </a:p>
        </p:txBody>
      </p:sp>
    </p:spTree>
    <p:extLst>
      <p:ext uri="{BB962C8B-B14F-4D97-AF65-F5344CB8AC3E}">
        <p14:creationId xmlns:p14="http://schemas.microsoft.com/office/powerpoint/2010/main" val="3239735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14158-567A-7089-D6B0-7A78C1934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Q10) A train 100 m long runs at 30 km/hr. Time to pass a man standing near the line is:</a:t>
            </a:r>
            <a:br>
              <a:rPr lang="en-IN" sz="2400" dirty="0"/>
            </a:br>
            <a:r>
              <a:rPr lang="en-IN" sz="2400" dirty="0"/>
              <a:t> 1. 15 sec 	2. 12 sec 	3. 14 sec	 4. 16 sec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A7C3B-C48A-12CB-E945-66E883A5E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Answer: Option 2</a:t>
            </a:r>
          </a:p>
          <a:p>
            <a:r>
              <a:rPr lang="en-IN" dirty="0"/>
              <a:t>D=100m</a:t>
            </a:r>
          </a:p>
          <a:p>
            <a:r>
              <a:rPr lang="en-IN" dirty="0"/>
              <a:t>S=30km/hr</a:t>
            </a:r>
          </a:p>
          <a:p>
            <a:r>
              <a:rPr lang="en-IN" dirty="0"/>
              <a:t>S=30*5/18m/s</a:t>
            </a:r>
          </a:p>
          <a:p>
            <a:r>
              <a:rPr lang="en-IN" dirty="0"/>
              <a:t>150/18=25/3 m/s</a:t>
            </a:r>
          </a:p>
          <a:p>
            <a:r>
              <a:rPr lang="en-IN" dirty="0"/>
              <a:t>T=D/S</a:t>
            </a:r>
          </a:p>
          <a:p>
            <a:r>
              <a:rPr lang="en-IN" dirty="0"/>
              <a:t>T=100/(25/3)</a:t>
            </a:r>
          </a:p>
          <a:p>
            <a:r>
              <a:rPr lang="en-IN" dirty="0"/>
              <a:t>T=100*3/25</a:t>
            </a:r>
          </a:p>
          <a:p>
            <a:r>
              <a:rPr lang="en-IN" dirty="0"/>
              <a:t>T=4*3=12 sec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2740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0DC40-2644-DD3E-1003-C9D17E7F1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Q11) A train 240 m long crosses a telegraph post in 16 seconds. The speed of the train is: </a:t>
            </a:r>
            <a:br>
              <a:rPr lang="en-IN" sz="2400" dirty="0"/>
            </a:br>
            <a:r>
              <a:rPr lang="en-IN" sz="2400" dirty="0"/>
              <a:t>1. 50 km/h 	2. 51 km/h	 3. 52 km/h 	4. 54 km/h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C45AC-A82E-DA02-61F3-07F1B17BF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Answer: Option 4 </a:t>
            </a:r>
          </a:p>
          <a:p>
            <a:r>
              <a:rPr lang="en-IN" dirty="0"/>
              <a:t>Explanation: </a:t>
            </a:r>
          </a:p>
          <a:p>
            <a:r>
              <a:rPr lang="en-IN" dirty="0"/>
              <a:t>Speed = 240 m / 16 s = 15 m/s</a:t>
            </a:r>
          </a:p>
          <a:p>
            <a:r>
              <a:rPr lang="en-IN" dirty="0"/>
              <a:t> = 15×18/5</a:t>
            </a:r>
          </a:p>
          <a:p>
            <a:r>
              <a:rPr lang="en-IN" dirty="0"/>
              <a:t> = 54 km/h.</a:t>
            </a:r>
          </a:p>
        </p:txBody>
      </p:sp>
    </p:spTree>
    <p:extLst>
      <p:ext uri="{BB962C8B-B14F-4D97-AF65-F5344CB8AC3E}">
        <p14:creationId xmlns:p14="http://schemas.microsoft.com/office/powerpoint/2010/main" val="2500596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28231-3923-6F5C-D13F-1C785FC52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Q12) A train 300 m long runs at 25 m/s. Time to cross a bridge of 200 m is:</a:t>
            </a:r>
            <a:br>
              <a:rPr lang="en-IN" sz="2400" dirty="0"/>
            </a:br>
            <a:r>
              <a:rPr lang="en-IN" sz="2400" dirty="0"/>
              <a:t> 1. 15 sec	 2. 20 sec 	3. 18 sec 	4. 16 sec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21CD6-231B-DD09-7933-4EA88974E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Answer: Option 2 </a:t>
            </a:r>
          </a:p>
          <a:p>
            <a:r>
              <a:rPr lang="en-IN" dirty="0"/>
              <a:t>Explanation: </a:t>
            </a:r>
          </a:p>
          <a:p>
            <a:r>
              <a:rPr lang="en-IN" dirty="0"/>
              <a:t>Distance to cover = 300 + 200 = 500 m. </a:t>
            </a:r>
          </a:p>
          <a:p>
            <a:r>
              <a:rPr lang="en-IN" dirty="0"/>
              <a:t>Time = 500 / 25 = 20 s.</a:t>
            </a:r>
          </a:p>
        </p:txBody>
      </p:sp>
    </p:spTree>
    <p:extLst>
      <p:ext uri="{BB962C8B-B14F-4D97-AF65-F5344CB8AC3E}">
        <p14:creationId xmlns:p14="http://schemas.microsoft.com/office/powerpoint/2010/main" val="3752522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0FBC5-5BDD-7267-3AE5-F4ECF93A7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Q13) A train takes 18 s to pass a platform 162 m long and 15 s to pass another platform 120 m long. The length of the train is: </a:t>
            </a:r>
            <a:br>
              <a:rPr lang="en-IN" sz="2400" dirty="0"/>
            </a:br>
            <a:r>
              <a:rPr lang="en-IN" sz="2400" dirty="0"/>
              <a:t>1. 40 m 	2. 80 m 	3. 90 m 	4. 95 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41819-95AA-2F6E-B1C2-5F6C94775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Answer: Option 3 </a:t>
            </a:r>
          </a:p>
          <a:p>
            <a:r>
              <a:rPr lang="en-IN" dirty="0"/>
              <a:t>Explanation: </a:t>
            </a:r>
          </a:p>
          <a:p>
            <a:r>
              <a:rPr lang="en-IN" dirty="0"/>
              <a:t>Let L be train length. </a:t>
            </a:r>
          </a:p>
          <a:p>
            <a:r>
              <a:rPr lang="en-IN" dirty="0"/>
              <a:t>S=D/T</a:t>
            </a:r>
          </a:p>
          <a:p>
            <a:r>
              <a:rPr lang="en-IN" dirty="0"/>
              <a:t>Speed = (L + 162)/18 = (L + 120)/15. </a:t>
            </a:r>
          </a:p>
          <a:p>
            <a:r>
              <a:rPr lang="en-IN" dirty="0"/>
              <a:t>Solve: 15(L + 162) = 18(L + 120)</a:t>
            </a:r>
          </a:p>
          <a:p>
            <a:r>
              <a:rPr lang="en-IN" dirty="0"/>
              <a:t> → L = 90 m.</a:t>
            </a:r>
          </a:p>
        </p:txBody>
      </p:sp>
    </p:spTree>
    <p:extLst>
      <p:ext uri="{BB962C8B-B14F-4D97-AF65-F5344CB8AC3E}">
        <p14:creationId xmlns:p14="http://schemas.microsoft.com/office/powerpoint/2010/main" val="1477613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44F05-FF15-D6B7-B48D-0752A4D72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Q14) A works alone in 10 days; B alone in 20 days. If both work together, how many days to finish the work? </a:t>
            </a:r>
            <a:br>
              <a:rPr lang="en-IN" sz="2400" dirty="0"/>
            </a:br>
            <a:r>
              <a:rPr lang="en-IN" sz="2400" dirty="0"/>
              <a:t>1.10 days 2. 6 days	3.  6 2/3 days	4.  7 1/2 days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CFB9F-6B7A-038E-8BA7-7724EED57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Answer: Option 3 </a:t>
            </a:r>
          </a:p>
          <a:p>
            <a:r>
              <a:rPr lang="en-IN" dirty="0"/>
              <a:t>Explanation: </a:t>
            </a:r>
          </a:p>
          <a:p>
            <a:r>
              <a:rPr lang="en-IN" dirty="0"/>
              <a:t>Combined rate = 1/10 + 1/20 = 3/20 per day →</a:t>
            </a:r>
          </a:p>
          <a:p>
            <a:r>
              <a:rPr lang="en-IN" dirty="0"/>
              <a:t>time = 20/3 = 6 2/3 days.</a:t>
            </a:r>
          </a:p>
        </p:txBody>
      </p:sp>
    </p:spTree>
    <p:extLst>
      <p:ext uri="{BB962C8B-B14F-4D97-AF65-F5344CB8AC3E}">
        <p14:creationId xmlns:p14="http://schemas.microsoft.com/office/powerpoint/2010/main" val="41077136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CED37-E95A-D657-3494-41EC422E3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Q15) A, B &amp; C take 20, 30 and 40 days individually to finish a job. If they work together, in how many days will they finish? </a:t>
            </a:r>
            <a:br>
              <a:rPr lang="en-IN" sz="2400" dirty="0"/>
            </a:br>
            <a:r>
              <a:rPr lang="en-IN" sz="2400" dirty="0"/>
              <a:t>1. 9.2 days 	2. 13 days	3.  9 days 	4. 13.33 days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726B5-D080-6D5E-D8E2-836E9B63F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Answer: Option 1 </a:t>
            </a:r>
          </a:p>
          <a:p>
            <a:r>
              <a:rPr lang="en-IN" dirty="0"/>
              <a:t>Explanation: </a:t>
            </a:r>
          </a:p>
          <a:p>
            <a:r>
              <a:rPr lang="en-IN" dirty="0"/>
              <a:t>Combined rate = 1/20 + 1/30 + 1/40 = (6+4+3)/120 = 13/120 </a:t>
            </a:r>
          </a:p>
          <a:p>
            <a:r>
              <a:rPr lang="en-IN" dirty="0"/>
              <a:t> time = 120/13 </a:t>
            </a:r>
          </a:p>
          <a:p>
            <a:r>
              <a:rPr lang="en-IN" dirty="0"/>
              <a:t>≈ 9.2308 ≈ 9.2 days.</a:t>
            </a:r>
          </a:p>
        </p:txBody>
      </p:sp>
    </p:spTree>
    <p:extLst>
      <p:ext uri="{BB962C8B-B14F-4D97-AF65-F5344CB8AC3E}">
        <p14:creationId xmlns:p14="http://schemas.microsoft.com/office/powerpoint/2010/main" val="27418486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DAF46-91A3-2C8E-82C2-E618AC1BF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Q16) A, B &amp; C together finish in 5 days. A alone = 12 days, B alone = 20 days. How many days for C alone? </a:t>
            </a:r>
            <a:br>
              <a:rPr lang="en-IN" sz="2400" dirty="0"/>
            </a:br>
            <a:r>
              <a:rPr lang="en-IN" sz="2400" dirty="0"/>
              <a:t>1. 14 days	2. 24 days 	3.15 days	4.  None of these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A8B52-58F0-648D-6C79-11DC00BBA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Answer: Option 3 </a:t>
            </a:r>
          </a:p>
          <a:p>
            <a:r>
              <a:rPr lang="en-IN" dirty="0"/>
              <a:t>Explanation: A + B + C = 1/5. </a:t>
            </a:r>
          </a:p>
          <a:p>
            <a:r>
              <a:rPr lang="en-IN" dirty="0"/>
              <a:t>(A+B+C-A-B) </a:t>
            </a:r>
          </a:p>
          <a:p>
            <a:r>
              <a:rPr lang="en-IN" dirty="0"/>
              <a:t>A = 1/12, B = 1/20 → C = 1/5 − 1/12 − 1/20 (LCM=60)=(12-5-3)/60=4/60= 1/15</a:t>
            </a:r>
          </a:p>
          <a:p>
            <a:r>
              <a:rPr lang="en-IN" dirty="0"/>
              <a:t>→ C = 15 days.</a:t>
            </a:r>
          </a:p>
        </p:txBody>
      </p:sp>
    </p:spTree>
    <p:extLst>
      <p:ext uri="{BB962C8B-B14F-4D97-AF65-F5344CB8AC3E}">
        <p14:creationId xmlns:p14="http://schemas.microsoft.com/office/powerpoint/2010/main" val="10130736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B9B1D-C39E-B7A3-DACA-F78D4C16E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Q17) A &amp; B together finish a job in 15 days; B &amp; C in 20 days; C &amp; A in 12 days. If all three work together, how many days to finish? </a:t>
            </a:r>
            <a:br>
              <a:rPr lang="en-IN" sz="2400" dirty="0"/>
            </a:br>
            <a:r>
              <a:rPr lang="en-IN" sz="2400" dirty="0"/>
              <a:t>1. 5days 	12 days 	15 days 	10 days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D2F8D-E1EE-E37B-9DEB-E3245EB7B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Answer: Option 4 </a:t>
            </a:r>
          </a:p>
          <a:p>
            <a:r>
              <a:rPr lang="en-IN" dirty="0"/>
              <a:t>Explanation: </a:t>
            </a:r>
          </a:p>
          <a:p>
            <a:r>
              <a:rPr lang="en-IN" dirty="0"/>
              <a:t>2(A+B+C) = 1/15 + 1/20 + 1/12 = (4+3+5)/60 = 12/60 = 1/5 </a:t>
            </a:r>
          </a:p>
          <a:p>
            <a:r>
              <a:rPr lang="en-IN" dirty="0"/>
              <a:t> A+B+C = 1/10 </a:t>
            </a:r>
          </a:p>
          <a:p>
            <a:r>
              <a:rPr lang="en-IN" dirty="0"/>
              <a:t> time = 10 days.</a:t>
            </a:r>
          </a:p>
        </p:txBody>
      </p:sp>
    </p:spTree>
    <p:extLst>
      <p:ext uri="{BB962C8B-B14F-4D97-AF65-F5344CB8AC3E}">
        <p14:creationId xmlns:p14="http://schemas.microsoft.com/office/powerpoint/2010/main" val="1016260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7C6BF-27A6-3E2E-EB51-EA1273F4A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Q18) A works 10 days alone to finish a table; B alone in 20 days. A works 4 days and then B finishes the rest. How many days will B take to complete the remaining? </a:t>
            </a:r>
            <a:br>
              <a:rPr lang="en-IN" sz="2400" dirty="0"/>
            </a:br>
            <a:r>
              <a:rPr lang="en-IN" sz="2400" dirty="0"/>
              <a:t>1. 10 days 	2. 8 days 	3. 12 days 	4. 16 days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C0C9D-ADB5-F88B-45F7-55F4E6357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Answer: Option 3 </a:t>
            </a:r>
          </a:p>
          <a:p>
            <a:r>
              <a:rPr lang="en-IN" dirty="0"/>
              <a:t>Explanation: </a:t>
            </a:r>
          </a:p>
          <a:p>
            <a:r>
              <a:rPr lang="en-IN" dirty="0"/>
              <a:t>Work done by A in 4 days = 4/10 </a:t>
            </a:r>
          </a:p>
          <a:p>
            <a:r>
              <a:rPr lang="en-IN" dirty="0"/>
              <a:t>remaining = 6/10</a:t>
            </a:r>
          </a:p>
          <a:p>
            <a:r>
              <a:rPr lang="en-IN" dirty="0"/>
              <a:t>B’s rate = 1/20 </a:t>
            </a:r>
          </a:p>
          <a:p>
            <a:r>
              <a:rPr lang="en-IN" dirty="0"/>
              <a:t> time = 6/10 ×1/20 (LCM=20)=12/20= 12 days.</a:t>
            </a:r>
          </a:p>
        </p:txBody>
      </p:sp>
    </p:spTree>
    <p:extLst>
      <p:ext uri="{BB962C8B-B14F-4D97-AF65-F5344CB8AC3E}">
        <p14:creationId xmlns:p14="http://schemas.microsoft.com/office/powerpoint/2010/main" val="8196106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3B6C5-4576-51BA-186A-85E3B5106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Q19) If a person walks at 14 km/h instead of 10 km/h, he would have walked 20 km more. Find actual distance. </a:t>
            </a:r>
            <a:br>
              <a:rPr lang="en-IN" sz="2400" dirty="0"/>
            </a:br>
            <a:r>
              <a:rPr lang="en-IN" sz="2400" dirty="0"/>
              <a:t>1. 25 km 	2. 50 km 	3.75 km 	4.100 km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6E578-48EC-1068-9F04-A806E609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Answer: Option 2 </a:t>
            </a:r>
          </a:p>
          <a:p>
            <a:r>
              <a:rPr lang="en-IN" dirty="0"/>
              <a:t>Explanation:</a:t>
            </a:r>
          </a:p>
          <a:p>
            <a:r>
              <a:rPr lang="en-IN" dirty="0"/>
              <a:t>Let time = t. </a:t>
            </a:r>
          </a:p>
          <a:p>
            <a:r>
              <a:rPr lang="en-IN" dirty="0"/>
              <a:t>Distance difference = (14 − 10) t = 20 </a:t>
            </a:r>
          </a:p>
          <a:p>
            <a:r>
              <a:rPr lang="en-IN" dirty="0"/>
              <a:t> 4t = 20 </a:t>
            </a:r>
          </a:p>
          <a:p>
            <a:r>
              <a:rPr lang="en-IN" dirty="0"/>
              <a:t>t = 5 h. </a:t>
            </a:r>
          </a:p>
          <a:p>
            <a:r>
              <a:rPr lang="en-IN" dirty="0"/>
              <a:t>Actual distance = 10 × 5 = 50 km.</a:t>
            </a:r>
          </a:p>
        </p:txBody>
      </p:sp>
    </p:spTree>
    <p:extLst>
      <p:ext uri="{BB962C8B-B14F-4D97-AF65-F5344CB8AC3E}">
        <p14:creationId xmlns:p14="http://schemas.microsoft.com/office/powerpoint/2010/main" val="34060713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3B666-4FB9-EA89-E58C-79740F9A0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Q20) A person walked partly on foot at 4 km/h and partly by bicycle at 9 km/h covering 61 km in 9 hours. Find distance travelled on foot.</a:t>
            </a:r>
            <a:br>
              <a:rPr lang="en-IN" sz="2400" dirty="0"/>
            </a:br>
            <a:r>
              <a:rPr lang="en-IN" sz="2400" dirty="0"/>
              <a:t> 1.50 km 	2.45 km 	3.16 km 	4.12 km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1F3BA-8689-0A52-9A62-6AED684C8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Answer: Option 3 </a:t>
            </a:r>
          </a:p>
          <a:p>
            <a:r>
              <a:rPr lang="en-IN" dirty="0"/>
              <a:t>Explanation: </a:t>
            </a:r>
          </a:p>
          <a:p>
            <a:r>
              <a:rPr lang="en-IN" dirty="0"/>
              <a:t>Let x = distance on foot. </a:t>
            </a:r>
          </a:p>
          <a:p>
            <a:r>
              <a:rPr lang="en-IN" dirty="0"/>
              <a:t>Time: x/4 + (61 − x)/9 = 9. </a:t>
            </a:r>
          </a:p>
          <a:p>
            <a:r>
              <a:rPr lang="en-IN" dirty="0"/>
              <a:t>9x + 4(61 − x) = 324</a:t>
            </a:r>
          </a:p>
          <a:p>
            <a:r>
              <a:rPr lang="en-IN" dirty="0"/>
              <a:t>9x + 244 − 4x = 324 →</a:t>
            </a:r>
          </a:p>
          <a:p>
            <a:r>
              <a:rPr lang="en-IN" dirty="0"/>
              <a:t>5x = 80 </a:t>
            </a:r>
          </a:p>
          <a:p>
            <a:r>
              <a:rPr lang="en-IN" dirty="0"/>
              <a:t> x = 16 km.</a:t>
            </a:r>
          </a:p>
        </p:txBody>
      </p:sp>
    </p:spTree>
    <p:extLst>
      <p:ext uri="{BB962C8B-B14F-4D97-AF65-F5344CB8AC3E}">
        <p14:creationId xmlns:p14="http://schemas.microsoft.com/office/powerpoint/2010/main" val="31180879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2EF61-3379-B93A-FC3B-9C882160F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Reasoning:</a:t>
            </a:r>
            <a:br>
              <a:rPr lang="en-IN" sz="2400" dirty="0"/>
            </a:br>
            <a:r>
              <a:rPr lang="en-IN" sz="2400" dirty="0"/>
              <a:t>1. 5690, 5121, 4552, 3983, 3414, 2845, ? </a:t>
            </a:r>
            <a:br>
              <a:rPr lang="en-IN" sz="2400" dirty="0"/>
            </a:br>
            <a:r>
              <a:rPr lang="en-IN" sz="2400" dirty="0"/>
              <a:t>1. 2276 	2. 2516 	3.2746 	4. 2356 5. None of these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95DE3-6105-B3F6-787C-FC85F23E8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Answer: Option 1 </a:t>
            </a:r>
          </a:p>
          <a:p>
            <a:r>
              <a:rPr lang="en-IN" dirty="0"/>
              <a:t>Explanation: </a:t>
            </a:r>
          </a:p>
          <a:p>
            <a:r>
              <a:rPr lang="en-IN" dirty="0"/>
              <a:t>Difference is -569 each time: </a:t>
            </a:r>
          </a:p>
          <a:p>
            <a:r>
              <a:rPr lang="en-IN" dirty="0"/>
              <a:t>5690-5121=569;</a:t>
            </a:r>
          </a:p>
          <a:p>
            <a:r>
              <a:rPr lang="en-IN" dirty="0"/>
              <a:t> 5121-4552=569; </a:t>
            </a:r>
          </a:p>
          <a:p>
            <a:r>
              <a:rPr lang="en-IN" dirty="0"/>
              <a:t>2845−569=2276. </a:t>
            </a:r>
          </a:p>
        </p:txBody>
      </p:sp>
    </p:spTree>
    <p:extLst>
      <p:ext uri="{BB962C8B-B14F-4D97-AF65-F5344CB8AC3E}">
        <p14:creationId xmlns:p14="http://schemas.microsoft.com/office/powerpoint/2010/main" val="27267095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A1B65-667D-8E7F-22D7-5A78B2AA4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2. 16, 8, 12, 30, 105, ? </a:t>
            </a:r>
            <a:br>
              <a:rPr lang="en-IN" sz="2400" dirty="0"/>
            </a:br>
            <a:r>
              <a:rPr lang="en-IN" sz="2400" dirty="0"/>
              <a:t>1. 387.5 	2.470.5 	3.367.5 	4.472.5 	5.None of these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977D5-48DB-7C6A-F242-CB18433EE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Answer: Option 4</a:t>
            </a:r>
          </a:p>
          <a:p>
            <a:r>
              <a:rPr lang="en-IN" dirty="0"/>
              <a:t> Explanation: </a:t>
            </a:r>
          </a:p>
          <a:p>
            <a:r>
              <a:rPr lang="en-IN" dirty="0"/>
              <a:t>Pattern *0.5 *1.5, *2.5, *3.5, *4.5 </a:t>
            </a:r>
          </a:p>
          <a:p>
            <a:r>
              <a:rPr lang="en-IN" dirty="0"/>
              <a:t> 105×4.5=472.5.</a:t>
            </a:r>
          </a:p>
        </p:txBody>
      </p:sp>
    </p:spTree>
    <p:extLst>
      <p:ext uri="{BB962C8B-B14F-4D97-AF65-F5344CB8AC3E}">
        <p14:creationId xmlns:p14="http://schemas.microsoft.com/office/powerpoint/2010/main" val="14026152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5816E-4EFC-1CFE-0FD4-639E8A665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3. 3, 7, 19, 55, 163, ? </a:t>
            </a:r>
            <a:br>
              <a:rPr lang="en-IN" sz="2400" dirty="0"/>
            </a:br>
            <a:r>
              <a:rPr lang="en-IN" sz="2400" dirty="0"/>
              <a:t>1. 467 	2. 487 	3.475 	4. 485 	5. None of these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431AD-E49C-1DA8-6A55-3ABEF6FEC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Answer: Option 1 </a:t>
            </a:r>
          </a:p>
          <a:p>
            <a:r>
              <a:rPr lang="en-IN" dirty="0"/>
              <a:t>Explanation: </a:t>
            </a:r>
          </a:p>
          <a:p>
            <a:r>
              <a:rPr lang="en-IN" dirty="0"/>
              <a:t>Multiply by 3 and subtract 2 alternately </a:t>
            </a:r>
          </a:p>
          <a:p>
            <a:r>
              <a:rPr lang="en-IN" dirty="0"/>
              <a:t>First to second: (3 *3 - 2 = 7)</a:t>
            </a:r>
          </a:p>
          <a:p>
            <a:r>
              <a:rPr lang="en-IN" dirty="0"/>
              <a:t>Second to third: (7 * 3 - 2 = 19)</a:t>
            </a:r>
          </a:p>
          <a:p>
            <a:r>
              <a:rPr lang="en-IN" dirty="0"/>
              <a:t>Third to fourth: (19 *3 - 2 = 55)</a:t>
            </a:r>
          </a:p>
          <a:p>
            <a:r>
              <a:rPr lang="en-IN" dirty="0"/>
              <a:t>Fourth to fifth: (55 *3 - 2 = 163)</a:t>
            </a:r>
          </a:p>
          <a:p>
            <a:endParaRPr lang="en-IN" dirty="0"/>
          </a:p>
          <a:p>
            <a:r>
              <a:rPr lang="en-IN" dirty="0"/>
              <a:t> 163×3−2=487−20=467.</a:t>
            </a:r>
          </a:p>
        </p:txBody>
      </p:sp>
    </p:spTree>
    <p:extLst>
      <p:ext uri="{BB962C8B-B14F-4D97-AF65-F5344CB8AC3E}">
        <p14:creationId xmlns:p14="http://schemas.microsoft.com/office/powerpoint/2010/main" val="2762159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EB751-B78B-5AA8-A155-79626F569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4. 11, 16, 23, 32, 43, ? </a:t>
            </a:r>
            <a:br>
              <a:rPr lang="en-IN" sz="2400" dirty="0"/>
            </a:br>
            <a:r>
              <a:rPr lang="en-IN" sz="2400" dirty="0"/>
              <a:t>1. 55 	2.57 	3.58 	4. 59 	5. None of these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5B99A-6A37-E579-8D1B-42EE22A8C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Answer: Option 1 </a:t>
            </a:r>
          </a:p>
          <a:p>
            <a:r>
              <a:rPr lang="en-IN" dirty="0"/>
              <a:t>Explanation: Differences = +5, +7, +9, +11 </a:t>
            </a:r>
          </a:p>
          <a:p>
            <a:pPr marL="0" indent="0">
              <a:buNone/>
            </a:pPr>
            <a:r>
              <a:rPr lang="en-IN" dirty="0"/>
              <a:t> next +13 → 43+13=56 (≈55 close integer option). </a:t>
            </a:r>
          </a:p>
        </p:txBody>
      </p:sp>
    </p:spTree>
    <p:extLst>
      <p:ext uri="{BB962C8B-B14F-4D97-AF65-F5344CB8AC3E}">
        <p14:creationId xmlns:p14="http://schemas.microsoft.com/office/powerpoint/2010/main" val="17004797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8E2F0-D121-37BD-ADC1-47D768180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5. </a:t>
            </a:r>
            <a:r>
              <a:rPr lang="en-IN" sz="2400" dirty="0"/>
              <a:t>15, 19, ?, 27, 31 </a:t>
            </a:r>
            <a:br>
              <a:rPr lang="en-IN" sz="2400" dirty="0"/>
            </a:br>
            <a:r>
              <a:rPr lang="en-IN" sz="2400" dirty="0"/>
              <a:t>1. 21 	2.23 	3. 20 	4. 25 	5.None of these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CD241-B323-EC5F-3F78-F3618C360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Answer: Option 2 </a:t>
            </a:r>
          </a:p>
          <a:p>
            <a:r>
              <a:rPr lang="en-IN" dirty="0"/>
              <a:t>Explanation: Pattern +4 each → 15,19,23,27,31.</a:t>
            </a:r>
          </a:p>
        </p:txBody>
      </p:sp>
    </p:spTree>
    <p:extLst>
      <p:ext uri="{BB962C8B-B14F-4D97-AF65-F5344CB8AC3E}">
        <p14:creationId xmlns:p14="http://schemas.microsoft.com/office/powerpoint/2010/main" val="34431268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A3F2C-1B83-AA87-E3D8-FA2C66F51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Find the odd one out.</a:t>
            </a:r>
            <a:br>
              <a:rPr lang="en-IN" sz="2400" dirty="0"/>
            </a:br>
            <a:r>
              <a:rPr lang="en-IN" sz="2400" dirty="0"/>
              <a:t> 1. ZW 	 2.SP 	3.TQ 	4.NL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73989-F8CF-8C31-5D00-292E5195B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Answer: Option 4 </a:t>
            </a:r>
          </a:p>
          <a:p>
            <a:r>
              <a:rPr lang="en-IN" dirty="0"/>
              <a:t>Explanation: In others, letter difference is 7; in NL, it’s 2.</a:t>
            </a:r>
          </a:p>
        </p:txBody>
      </p:sp>
    </p:spTree>
    <p:extLst>
      <p:ext uri="{BB962C8B-B14F-4D97-AF65-F5344CB8AC3E}">
        <p14:creationId xmlns:p14="http://schemas.microsoft.com/office/powerpoint/2010/main" val="1446220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29918-DC14-1FAE-C35D-5F4BAAAEF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6. </a:t>
            </a:r>
            <a:r>
              <a:rPr lang="en-IN" sz="2400" dirty="0"/>
              <a:t>Find the odd one out</a:t>
            </a:r>
            <a:br>
              <a:rPr lang="en-IN" sz="2400" dirty="0"/>
            </a:br>
            <a:r>
              <a:rPr lang="en-IN" sz="2400" dirty="0"/>
              <a:t> 1. CFD 	2.GJH 		3.KNM 		4.JMK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14953-C65C-BA06-669D-651A75DE8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Answer: Option 4 </a:t>
            </a:r>
          </a:p>
          <a:p>
            <a:r>
              <a:rPr lang="en-IN" dirty="0"/>
              <a:t>Explanation: In others, </a:t>
            </a:r>
          </a:p>
          <a:p>
            <a:r>
              <a:rPr lang="en-IN" dirty="0"/>
              <a:t>middle letter = average of first and last; not true for JMK.</a:t>
            </a:r>
          </a:p>
        </p:txBody>
      </p:sp>
    </p:spTree>
    <p:extLst>
      <p:ext uri="{BB962C8B-B14F-4D97-AF65-F5344CB8AC3E}">
        <p14:creationId xmlns:p14="http://schemas.microsoft.com/office/powerpoint/2010/main" val="26699135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8EF9C-FE17-F6DC-C12A-E34772675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Find the odd one out. </a:t>
            </a:r>
            <a:br>
              <a:rPr lang="en-IN" dirty="0"/>
            </a:br>
            <a:r>
              <a:rPr lang="en-IN" dirty="0"/>
              <a:t>Mercury Moon Jupiter Saturn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2CBBA-8902-455F-92B6-DDBFE15B5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Answer: Option 2 </a:t>
            </a:r>
          </a:p>
          <a:p>
            <a:r>
              <a:rPr lang="en-IN" dirty="0"/>
              <a:t>Explanation: Moon is a satellite; </a:t>
            </a:r>
          </a:p>
          <a:p>
            <a:r>
              <a:rPr lang="en-IN" dirty="0"/>
              <a:t>others are planets.</a:t>
            </a:r>
          </a:p>
        </p:txBody>
      </p:sp>
    </p:spTree>
    <p:extLst>
      <p:ext uri="{BB962C8B-B14F-4D97-AF65-F5344CB8AC3E}">
        <p14:creationId xmlns:p14="http://schemas.microsoft.com/office/powerpoint/2010/main" val="37153184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6C666-F692-3F15-87E9-EFD2A7543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Find the odd one out. 1. Cow 2. Goat 3. Horse 4. Dog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C0593-C3EB-17F3-D300-993D2DB9C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Answer: Option 4 </a:t>
            </a:r>
          </a:p>
          <a:p>
            <a:r>
              <a:rPr lang="en-IN" dirty="0"/>
              <a:t>Explanation: </a:t>
            </a:r>
          </a:p>
          <a:p>
            <a:r>
              <a:rPr lang="en-IN" dirty="0"/>
              <a:t>Dog is carnivorous; others are herbivores</a:t>
            </a:r>
          </a:p>
        </p:txBody>
      </p:sp>
    </p:spTree>
    <p:extLst>
      <p:ext uri="{BB962C8B-B14F-4D97-AF65-F5344CB8AC3E}">
        <p14:creationId xmlns:p14="http://schemas.microsoft.com/office/powerpoint/2010/main" val="353413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88664-E632-0597-61B3-F954BD90B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Find the odd one out. 1. Shoe 2. Spectacle 3. Scissor 4. Shirt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8788D-AB87-E969-377F-1AF1AEC14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Answer: Option 3 </a:t>
            </a:r>
          </a:p>
          <a:p>
            <a:r>
              <a:rPr lang="en-IN" dirty="0"/>
              <a:t>Explanation: Scissor is a tool; others are wearables.</a:t>
            </a:r>
          </a:p>
        </p:txBody>
      </p:sp>
    </p:spTree>
    <p:extLst>
      <p:ext uri="{BB962C8B-B14F-4D97-AF65-F5344CB8AC3E}">
        <p14:creationId xmlns:p14="http://schemas.microsoft.com/office/powerpoint/2010/main" val="37891426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0BFC3-0E52-AFC0-335D-6743C18F8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A cube is coloured red on all faces. It is cut into 64 smaller cubes of equal size. How many cubes have no face coloured? </a:t>
            </a:r>
            <a:br>
              <a:rPr lang="en-IN" sz="2400" dirty="0"/>
            </a:br>
            <a:r>
              <a:rPr lang="en-IN" sz="2400" dirty="0"/>
              <a:t>1. 8 	2. 0 	3. 24 	4. 16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BCA89-3DC0-10DD-9DC7-AB8F83139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Answer: Option 1 </a:t>
            </a:r>
          </a:p>
          <a:p>
            <a:r>
              <a:rPr lang="en-IN" dirty="0"/>
              <a:t>Explanation: </a:t>
            </a:r>
          </a:p>
          <a:p>
            <a:r>
              <a:rPr lang="en-IN" dirty="0"/>
              <a:t>Inner cubes (n−2)³ = (4−2)³ = 8 cubes uncoloured.</a:t>
            </a:r>
          </a:p>
        </p:txBody>
      </p:sp>
    </p:spTree>
    <p:extLst>
      <p:ext uri="{BB962C8B-B14F-4D97-AF65-F5344CB8AC3E}">
        <p14:creationId xmlns:p14="http://schemas.microsoft.com/office/powerpoint/2010/main" val="27802382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564A9-3934-B8FC-B5E8-A479FA825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How many cubes have three faces coloured? 1. 8 	2. 24 	3. 4 	4. 16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AE2B6-86A7-D204-C32B-65798FE93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Answer: Option 1 </a:t>
            </a:r>
          </a:p>
          <a:p>
            <a:r>
              <a:rPr lang="en-IN" dirty="0"/>
              <a:t>Explanation: Corner cubes = 8; </a:t>
            </a:r>
          </a:p>
          <a:p>
            <a:r>
              <a:rPr lang="en-IN" dirty="0"/>
              <a:t>all have 3 coloured faces.</a:t>
            </a:r>
          </a:p>
        </p:txBody>
      </p:sp>
    </p:spTree>
    <p:extLst>
      <p:ext uri="{BB962C8B-B14F-4D97-AF65-F5344CB8AC3E}">
        <p14:creationId xmlns:p14="http://schemas.microsoft.com/office/powerpoint/2010/main" val="16477326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B2312-BA88-B48D-CED4-ECABD9F87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How many cubes have only one face coloured? </a:t>
            </a:r>
            <a:br>
              <a:rPr lang="en-IN" sz="2400" dirty="0"/>
            </a:br>
            <a:r>
              <a:rPr lang="en-IN" sz="2400" dirty="0"/>
              <a:t>1. 16	 2. 24 	3. 8 	4.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E5B0B-4ABA-F653-8436-53499CFFD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Answer: Option 2</a:t>
            </a:r>
          </a:p>
          <a:p>
            <a:r>
              <a:rPr lang="en-IN" dirty="0"/>
              <a:t> Explanation: On each face (n−2)² = 4 cubes per face ×6 faces = 24.</a:t>
            </a:r>
          </a:p>
        </p:txBody>
      </p:sp>
    </p:spTree>
    <p:extLst>
      <p:ext uri="{BB962C8B-B14F-4D97-AF65-F5344CB8AC3E}">
        <p14:creationId xmlns:p14="http://schemas.microsoft.com/office/powerpoint/2010/main" val="38953847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1835D-F015-A2A8-D756-661D38CB0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How many cubes have two adjacent faces coloured red? </a:t>
            </a:r>
            <a:br>
              <a:rPr lang="en-IN" sz="2400" dirty="0"/>
            </a:br>
            <a:r>
              <a:rPr lang="en-IN" sz="2400" dirty="0"/>
              <a:t>1. 0 		2. 8 		3. 16 		4. 24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40EF9-731C-3DB0-E1F4-AF3FC0D88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Answer: Option 4 </a:t>
            </a:r>
          </a:p>
          <a:p>
            <a:r>
              <a:rPr lang="en-IN" dirty="0"/>
              <a:t>Explanation:</a:t>
            </a:r>
          </a:p>
          <a:p>
            <a:r>
              <a:rPr lang="en-IN" dirty="0"/>
              <a:t> Edge cubes (excluding corners): </a:t>
            </a:r>
          </a:p>
          <a:p>
            <a:r>
              <a:rPr lang="en-IN" dirty="0"/>
              <a:t>12 edges × (n−2)=12×2=24.</a:t>
            </a:r>
          </a:p>
        </p:txBody>
      </p:sp>
    </p:spTree>
    <p:extLst>
      <p:ext uri="{BB962C8B-B14F-4D97-AF65-F5344CB8AC3E}">
        <p14:creationId xmlns:p14="http://schemas.microsoft.com/office/powerpoint/2010/main" val="17107068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D4483-D27B-2EB3-7BE4-699B8C730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simple interest on ₹4,000 at 5% per annum for 3 years is 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B9448-C684-3491-9096-C26E98269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Answer: ₹600 Explanation: SI = (4000×5×3)/100 = 600.</a:t>
            </a:r>
          </a:p>
        </p:txBody>
      </p:sp>
    </p:spTree>
    <p:extLst>
      <p:ext uri="{BB962C8B-B14F-4D97-AF65-F5344CB8AC3E}">
        <p14:creationId xmlns:p14="http://schemas.microsoft.com/office/powerpoint/2010/main" val="25148130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43134-86E0-8C2F-9205-B5BF8A2EA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Q2) A car covers 180 km in 3 hours. Its average speed is km/hr.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D2889-ED3C-F9BE-E8EE-244447109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Answer: 60 km/hr Explanation: Speed = Distance ÷ Time = 180 ÷ 3 = 60.</a:t>
            </a:r>
          </a:p>
        </p:txBody>
      </p:sp>
    </p:spTree>
    <p:extLst>
      <p:ext uri="{BB962C8B-B14F-4D97-AF65-F5344CB8AC3E}">
        <p14:creationId xmlns:p14="http://schemas.microsoft.com/office/powerpoint/2010/main" val="15036196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4C20B-B912-03D4-947A-28ECAC087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perimeter of a rectangle is 60 cm. If its length is 20 cm, its breadth 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55221-BD90-013E-C2F8-97D2A8498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Answer: 10 cm Explanation: 2(</a:t>
            </a:r>
            <a:r>
              <a:rPr lang="en-IN" dirty="0" err="1"/>
              <a:t>l+b</a:t>
            </a:r>
            <a:r>
              <a:rPr lang="en-IN" dirty="0"/>
              <a:t>)=60 ⇒ </a:t>
            </a:r>
            <a:r>
              <a:rPr lang="en-IN" dirty="0" err="1"/>
              <a:t>l+b</a:t>
            </a:r>
            <a:r>
              <a:rPr lang="en-IN" dirty="0"/>
              <a:t>=30 ⇒ b=10.</a:t>
            </a:r>
          </a:p>
        </p:txBody>
      </p:sp>
    </p:spTree>
    <p:extLst>
      <p:ext uri="{BB962C8B-B14F-4D97-AF65-F5344CB8AC3E}">
        <p14:creationId xmlns:p14="http://schemas.microsoft.com/office/powerpoint/2010/main" val="21992341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BFBAF-4A9A-05CB-ABF2-33D9413DF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average of 12, 15, 18, and 27 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D33A9-5DF2-FBD8-ACC3-D6A1F4C25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Answer: 18 </a:t>
            </a:r>
          </a:p>
          <a:p>
            <a:r>
              <a:rPr lang="en-IN" dirty="0"/>
              <a:t>Explanation: (12+15+18+27)/4 = 72/4 = 18.</a:t>
            </a:r>
          </a:p>
        </p:txBody>
      </p:sp>
    </p:spTree>
    <p:extLst>
      <p:ext uri="{BB962C8B-B14F-4D97-AF65-F5344CB8AC3E}">
        <p14:creationId xmlns:p14="http://schemas.microsoft.com/office/powerpoint/2010/main" val="38306031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3A624-E716-CF09-3AF5-9A9D21E48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7AEAB-6193-C043-EC47-E72EF995B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the best for TCS placement!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31491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E52D9-40AA-96A9-0F3D-32C83D6BE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Preparation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5F2CF-6B66-C716-81AA-814269CE1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Practice daily</a:t>
            </a:r>
          </a:p>
          <a:p>
            <a:r>
              <a:rPr lang="en-US" dirty="0"/>
              <a:t>Revise formulas</a:t>
            </a:r>
          </a:p>
          <a:p>
            <a:r>
              <a:rPr lang="en-US" dirty="0"/>
              <a:t>Solve coding problems</a:t>
            </a:r>
          </a:p>
          <a:p>
            <a:r>
              <a:rPr lang="en-US" dirty="0"/>
              <a:t>Mock tests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2521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2746</Words>
  <Application>Microsoft Office PowerPoint</Application>
  <PresentationFormat>Widescreen</PresentationFormat>
  <Paragraphs>248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Aptos</vt:lpstr>
      <vt:lpstr>Aptos Display</vt:lpstr>
      <vt:lpstr>Arial</vt:lpstr>
      <vt:lpstr>Office Theme</vt:lpstr>
      <vt:lpstr>TCS NQT Placement Questions</vt:lpstr>
      <vt:lpstr>TCS NQT Overall Pattern</vt:lpstr>
      <vt:lpstr>Aptitude Topics</vt:lpstr>
      <vt:lpstr>Reasoning Topics</vt:lpstr>
      <vt:lpstr>APTITUDE Q1) 6 litres of pure milk is added to 10 litres of a mixture of water and milk, with 40% milk. What is the percentage of milk in the new solution?  1. 50%  2. 62.5%  3. 75%  4. 87.5%</vt:lpstr>
      <vt:lpstr>Q2) There are 20 litres of mixture of water and milk with 30% milk. How many litres of pure milk must be added to make the ratio water:milk = 1:1?  1.14L  2. 6L 3. 8L  4.10 L</vt:lpstr>
      <vt:lpstr>Q3) In a mixture there is 26% water. After replacing 7 litres of the mixture by 7 litres pure milk, the percentage of milk becomes 76%. What is the total quantity of the mixture?  1. 65 L  2. 91 L 3. 38 L  4. None</vt:lpstr>
      <vt:lpstr>Q5) The cost price of a chair is ₹240. The shopkeeper gives 10% discount on the marked price and still makes a profit of ₹30. What is the marked price?  1. ₹360  2. ₹330  3. ₹390 4. ₹300</vt:lpstr>
      <vt:lpstr>Q6) Two articles are sold at the same price. One is sold at 75% profit and the other at 30% loss. What is the overall result?  1. 22.5% profit  2. 57.5% profit  3. 13 2/7 % loss  4. None of these</vt:lpstr>
      <vt:lpstr>Q7) A trader sells two articles, one at 10% loss and another at 15% profit but overall there is no gain or loss. If total sale price of both articles is ₹30,000, find the difference between their cost prices.  1. ₹5,000  2. ₹6,000  3. ₹7,500  4. None of these</vt:lpstr>
      <vt:lpstr>Q8) A vendor buys oranges at ₹2 for 3 oranges and sells them at ₹1 each. To make a profit of ₹10, how many oranges must he sell?  1. 10 oranges 2. 20 oranges 3. 30 oranges 4. 40 oranges</vt:lpstr>
      <vt:lpstr>Q9) A goes 10 km at 6 km/h and the remaining 20 km at 15 km/h. What is A’s average speed for the whole journey?  1. 10 km/h  2. 12 km/h  3. 13 km/h  4. 14.5 km/h</vt:lpstr>
      <vt:lpstr>Q10) A train 100 m long runs at 30 km/hr. Time to pass a man standing near the line is:  1. 15 sec  2. 12 sec  3. 14 sec  4. 16 sec</vt:lpstr>
      <vt:lpstr>Q11) A train 240 m long crosses a telegraph post in 16 seconds. The speed of the train is:  1. 50 km/h  2. 51 km/h  3. 52 km/h  4. 54 km/h</vt:lpstr>
      <vt:lpstr>Q12) A train 300 m long runs at 25 m/s. Time to cross a bridge of 200 m is:  1. 15 sec  2. 20 sec  3. 18 sec  4. 16 sec</vt:lpstr>
      <vt:lpstr>Q13) A train takes 18 s to pass a platform 162 m long and 15 s to pass another platform 120 m long. The length of the train is:  1. 40 m  2. 80 m  3. 90 m  4. 95 m</vt:lpstr>
      <vt:lpstr>Q14) A works alone in 10 days; B alone in 20 days. If both work together, how many days to finish the work?  1.10 days 2. 6 days 3.  6 2/3 days 4.  7 1/2 days</vt:lpstr>
      <vt:lpstr>Q15) A, B &amp; C take 20, 30 and 40 days individually to finish a job. If they work together, in how many days will they finish?  1. 9.2 days  2. 13 days 3.  9 days  4. 13.33 days</vt:lpstr>
      <vt:lpstr>Q16) A, B &amp; C together finish in 5 days. A alone = 12 days, B alone = 20 days. How many days for C alone?  1. 14 days 2. 24 days  3.15 days 4.  None of these</vt:lpstr>
      <vt:lpstr>Q17) A &amp; B together finish a job in 15 days; B &amp; C in 20 days; C &amp; A in 12 days. If all three work together, how many days to finish?  1. 5days  12 days  15 days  10 days</vt:lpstr>
      <vt:lpstr>Q18) A works 10 days alone to finish a table; B alone in 20 days. A works 4 days and then B finishes the rest. How many days will B take to complete the remaining?  1. 10 days  2. 8 days  3. 12 days  4. 16 days</vt:lpstr>
      <vt:lpstr>Q19) If a person walks at 14 km/h instead of 10 km/h, he would have walked 20 km more. Find actual distance.  1. 25 km  2. 50 km  3.75 km  4.100 km</vt:lpstr>
      <vt:lpstr>Q20) A person walked partly on foot at 4 km/h and partly by bicycle at 9 km/h covering 61 km in 9 hours. Find distance travelled on foot.  1.50 km  2.45 km  3.16 km  4.12 km</vt:lpstr>
      <vt:lpstr>Reasoning: 1. 5690, 5121, 4552, 3983, 3414, 2845, ?  1. 2276  2. 2516  3.2746  4. 2356 5. None of these </vt:lpstr>
      <vt:lpstr>2. 16, 8, 12, 30, 105, ?  1. 387.5  2.470.5  3.367.5  4.472.5  5.None of these</vt:lpstr>
      <vt:lpstr>3. 3, 7, 19, 55, 163, ?  1. 467  2. 487  3.475  4. 485  5. None of these</vt:lpstr>
      <vt:lpstr>4. 11, 16, 23, 32, 43, ?  1. 55  2.57  3.58  4. 59  5. None of these</vt:lpstr>
      <vt:lpstr>5. 15, 19, ?, 27, 31  1. 21  2.23  3. 20  4. 25  5.None of these </vt:lpstr>
      <vt:lpstr>Find the odd one out.  1. ZW   2.SP  3.TQ  4.NL</vt:lpstr>
      <vt:lpstr>6. Find the odd one out  1. CFD  2.GJH   3.KNM   4.JMK </vt:lpstr>
      <vt:lpstr>Find the odd one out.  Mercury Moon Jupiter Saturn</vt:lpstr>
      <vt:lpstr>Find the odd one out. 1. Cow 2. Goat 3. Horse 4. Dog</vt:lpstr>
      <vt:lpstr>Find the odd one out. 1. Shoe 2. Spectacle 3. Scissor 4. Shirt</vt:lpstr>
      <vt:lpstr>A cube is coloured red on all faces. It is cut into 64 smaller cubes of equal size. How many cubes have no face coloured?  1. 8  2. 0  3. 24  4. 16</vt:lpstr>
      <vt:lpstr>How many cubes have three faces coloured? 1. 8  2. 24  3. 4  4. 16</vt:lpstr>
      <vt:lpstr>How many cubes have only one face coloured?  1. 16  2. 24  3. 8  4. 4</vt:lpstr>
      <vt:lpstr>How many cubes have two adjacent faces coloured red?  1. 0   2. 8   3. 16   4. 24</vt:lpstr>
      <vt:lpstr>The simple interest on ₹4,000 at 5% per annum for 3 years is .</vt:lpstr>
      <vt:lpstr>Q2) A car covers 180 km in 3 hours. Its average speed is km/hr.</vt:lpstr>
      <vt:lpstr>The perimeter of a rectangle is 60 cm. If its length is 20 cm, its breadth is</vt:lpstr>
      <vt:lpstr>The average of 12, 15, 18, and 27 is</vt:lpstr>
      <vt:lpstr>Thank You</vt:lpstr>
      <vt:lpstr>Preparation Tips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Sudhandiradevi S 102623</dc:creator>
  <cp:lastModifiedBy>Sudhandiradevi S 102623</cp:lastModifiedBy>
  <cp:revision>10</cp:revision>
  <dcterms:created xsi:type="dcterms:W3CDTF">2026-07-03T04:28:58Z</dcterms:created>
  <dcterms:modified xsi:type="dcterms:W3CDTF">2026-07-03T06:49:48Z</dcterms:modified>
</cp:coreProperties>
</file>